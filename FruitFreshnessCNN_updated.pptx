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77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56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4884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8328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🍊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61772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🥭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85216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🍉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08660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 Freshness Detection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65760" y="1691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Convolutional Neural Networks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68580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60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Image Classification · Food Quality Control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828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14,329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Images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3154680"/>
            <a:ext cx="1828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46888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Classes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154680"/>
            <a:ext cx="1828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Fruit Types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3154680"/>
            <a:ext cx="1828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CNN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7512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Why Does This Matter?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143000"/>
          </a:xfrm>
          <a:prstGeom prst="rect">
            <a:avLst/>
          </a:prstGeom>
          <a:solidFill>
            <a:srgbClr val="FFF3DC"/>
          </a:solidFill>
          <a:ln w="19050">
            <a:solidFill>
              <a:srgbClr val="D4831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31A"/>
                </a:solidFill>
              </a:rPr>
              <a:t>⚠  The Core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spoilage causes massive waste across households, retail stores, and supply chains. Manual inspection is slow, inconsistent, and error-prone — making automated solutions essential.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27432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29768" y="31272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Gap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3547872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inspectors cannot scale to high-volume sorting in real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377440"/>
            <a:ext cx="27432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10128" y="31272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Loss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3547872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 of all food produced globally is lost or wasted annually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377440"/>
            <a:ext cx="27432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90488" y="31272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Solution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0488" y="3547872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image classifier provides fast, consistent freshness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14,329 images · 13 classes · 6 fruit types + Other/Unknown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14,329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11,463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Training 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005840"/>
            <a:ext cx="201168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2,866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Test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005840"/>
            <a:ext cx="201168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224×224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Image Size (px)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194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 Categories &amp; Classes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8595360" cy="2400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freshapples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rottenapples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freshbanana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rottenbanana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freshoranges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rottenoranges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freshmango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rottenmango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Pomegranate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freshpomegranate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rottenpomegranate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Watermelon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freshwatermelon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rottenwatermelon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Other/Unknown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Other_Unknown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(rejection class)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483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3DC"/>
                </a:solidFill>
              </a:rPr>
              <a:t>Issues encountered during data collection and preparation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831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07592"/>
            <a:ext cx="502920" cy="502920"/>
          </a:xfrm>
          <a:prstGeom prst="ellipse">
            <a:avLst/>
          </a:prstGeom>
          <a:solidFill>
            <a:srgbClr val="D4831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247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/ Insufficient Images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5389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Several fruit categories had too few images for certain conditions (e.g., rotten watermelon, rotten pomegranate). The dataset was not balanced across all 12 classes.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1965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Used Keras ImageDataGenerator to artificially generate additional images via augmentation (rotation, flip, zoom, shear) to fill the gaps.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5000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831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606040"/>
            <a:ext cx="502920" cy="502920"/>
          </a:xfrm>
          <a:prstGeom prst="ellipse">
            <a:avLst/>
          </a:prstGeom>
          <a:solidFill>
            <a:srgbClr val="D4831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2316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Channel Mismatch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75234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OpenCV loads images in BGR format by default. Using raw BGR images would cause the model to learn on incorrect color representations.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11810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Applied cv2.cvtColor(img, cv2.COLOR_BGR2RGB) on every image during loading to convert to proper RGB.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4845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831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904488"/>
            <a:ext cx="502920" cy="502920"/>
          </a:xfrm>
          <a:prstGeom prst="ellipse">
            <a:avLst/>
          </a:prstGeom>
          <a:solidFill>
            <a:srgbClr val="D4831A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7216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Image Sizes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0507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Raw dataset images had inconsistent resolutions — different cameras and sources produced different dimensions that CNNs cannot handle directly.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41655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Resized all images to a fixed 224×224 pixels using cv2.resize() before feeding into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Step-by-step: from raw images to model-ready tensors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07592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124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 Load &amp; Label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47218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all folders, assigned class index (0–11) from the cate list for each image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307592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58968" y="1124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📏  Resize to 224×224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47218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uniform 224×224 px using OpenCV for CNN compatibility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60604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🔀  Shuffle 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7706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np.random.shuffle() to remove ordering bias and ensure random distribution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260604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✂️  Train/Test Split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27706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split: 10,150 training images, 2,537 test images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4845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3904488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721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BGR → RGB Conversion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0690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cv2.cvtColor(img, cv2.COLOR_BGR2RGB) applied to match expected RGB format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4845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18888" y="3904488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58968" y="3721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⚖️  Normalize Pixel Values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40690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all pixel values by 255 to scale from [0–255] to [0–1] float range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 &amp; Selection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Custom CNN built from scratch — no pretrained models used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77640" cy="210312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CNN?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extracts spatial features (edges, textures, colors)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weights via filters — efficient for image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learning: low-level → high-level features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state-of-the-art for image classification tasks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with 13-class multi-category classification (incl. Other/Unknown)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005840"/>
            <a:ext cx="4389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4069080" cy="228600"/>
          </a:xfrm>
          <a:prstGeom prst="rect">
            <a:avLst/>
          </a:prstGeom>
          <a:solidFill>
            <a:srgbClr val="065A82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72184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Input  224×224×3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719072"/>
            <a:ext cx="4069080" cy="228600"/>
          </a:xfrm>
          <a:prstGeom prst="rect">
            <a:avLst/>
          </a:prstGeom>
          <a:solidFill>
            <a:srgbClr val="1C729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728216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Conv2D(32) + MaxPool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975104"/>
            <a:ext cx="4069080" cy="228600"/>
          </a:xfrm>
          <a:prstGeom prst="rect">
            <a:avLst/>
          </a:prstGeom>
          <a:solidFill>
            <a:srgbClr val="0280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984248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Conv2D(64) + MaxPool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231136"/>
            <a:ext cx="4069080" cy="228600"/>
          </a:xfrm>
          <a:prstGeom prst="rect">
            <a:avLst/>
          </a:prstGeom>
          <a:solidFill>
            <a:srgbClr val="00A8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240280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Conv2D(128) + MaxPool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487168"/>
            <a:ext cx="4069080" cy="228600"/>
          </a:xfrm>
          <a:prstGeom prst="rect">
            <a:avLst/>
          </a:prstGeom>
          <a:solidFill>
            <a:srgbClr val="4A7C59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496312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Flatten → Dense(256) + Dropout(0.4)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4069080" cy="228600"/>
          </a:xfrm>
          <a:prstGeom prst="rect">
            <a:avLst/>
          </a:prstGeom>
          <a:solidFill>
            <a:srgbClr val="52B788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2752344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Dense(128) → Dense(13, softmax)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201168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59"/>
                </a:solidFill>
              </a:rPr>
              <a:t>Optimizer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73075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(lr=0.001)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450592" y="3291840"/>
            <a:ext cx="201168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59"/>
                </a:solidFill>
              </a:rPr>
              <a:t>Loss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23744" y="373075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Categorical 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26864" y="3291840"/>
            <a:ext cx="201168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59"/>
                </a:solidFill>
              </a:rPr>
              <a:t>Epochs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373075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+ EarlyStopping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03136" y="3291840"/>
            <a:ext cx="201168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4576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59"/>
                </a:solidFill>
              </a:rPr>
              <a:t>Batch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76288" y="373075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Confusion matrix · Classification report · Accuracy &amp; loss curves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C59"/>
                </a:solidFill>
              </a:rPr>
              <a:t>A 13×13 matrix (12 fruit classes + Other/Unknown) plotting actual vs. predicted class labels. Diagonal cells (dark green) show correct predictions; off-diagonal cells reveal misclassifications.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195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24231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7360" y="24231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242316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24231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42316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0" y="283464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171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37360" y="283464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83464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17520" y="283464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283464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24612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7280" y="324612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324612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211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77440" y="324612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017520" y="324612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0" y="324612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3736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77440" y="365760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1752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06908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97280" y="406908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728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737360" y="406908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377440" y="406908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7744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017520" y="406908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203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0" y="406908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11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44805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097280" y="44805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9728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737360" y="44805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3736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377440" y="448056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7744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017520" y="44805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6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657600" y="448056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203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65760" y="4663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</a:rPr>
              <a:t>(Illustrative — actual values from sns.heatmap in notebook)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6344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Report</a:t>
            </a:r>
            <a:endParaRPr lang="en-US" sz="16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3063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(TP+FP)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predicted positives that are correct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(TP+FN)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actual positives correctly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of Precision &amp; 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/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model correctness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of true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sample count in test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" name="Shape 81"/>
          <p:cNvSpPr/>
          <p:nvPr/>
        </p:nvSpPr>
        <p:spPr>
          <a:xfrm>
            <a:off x="4663440" y="4572000"/>
            <a:ext cx="4160520" cy="411480"/>
          </a:xfrm>
          <a:prstGeom prst="rect">
            <a:avLst/>
          </a:prstGeom>
          <a:solidFill>
            <a:srgbClr val="B7E4C7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754880" y="45720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📈  Overall test accuracy: 95% · Other/Unknown class — Precision 0.97, Recall 0.95, F1 0.96 (204 test images) · Accuracy &amp; loss curves plotted using matplotlib (train vs. validation per epoch)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Improving Model Accuracy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Techniques applied to enhance performance and reduce overfitting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52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Augmentation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5389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Keras ImageDataGenerator to create rotated, flipped, zoomed, and sheared variants of underrepresented classes — expanded effective dataset size and improved generalization.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2412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52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🛑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58968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58968" y="145389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EarlyStopping(monitor='val_accuracy', patience=2, restore_best_weights=True) halted training before overfitting occurred, automatically restoring the best model checkpoint.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5000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2412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 Regularization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77977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Dropout(0.4) after Dense(256) layer randomly drops 40% of neurons during training, forcing the network to learn robust features and preventing co-adaptation.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35000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5896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CNN Architecture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58968" y="277977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3 convolutional blocks (32 → 64 → 128 filters) to progressively extract low-level to high-level features with increasing complexity.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24128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410565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divided by 255 to bring all inputs into [0, 1] range, stabilizing gradient descent and improving convergence speed.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67588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58968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Saved in .keras + .h5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58968" y="410565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saved in both formats for deployment flexibility — .keras for modern TF 2.x and .h5 for compatibility with older pipelines and AWS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Web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From Jupyter notebook to a live web app on AWS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78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🛠️  app.py — Flask 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Flask (Python web framework)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saved .h5 model on startup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uploaded image via POST request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Pre-processes image: resize → BGR→RGB → normalize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prediction label + confidence % — rejects as "unsupported" if confidence &lt; 85% or class is Other/Unknown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74320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78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🖼️  index.html &amp; result.html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index.html: upload form UI for fruit image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result.html: displays prediction + confidence + fruit-specific storage tips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VS Code with Jinja2 templating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with image preview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274320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78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☁️  AWS Deployment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4768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AWS EC2 instance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 (.h5) hosted alongside Flask app — optimizer stripped (295MB → 98.5MB) for free-tier hosting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public IP / domain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 up with pip &amp; virtualenv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$0/month (EC2 free tier) — ~$0.012 per 1,000 predictions if scaled to AWS Lambda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D6A4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52B788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417320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custom CNN classifier achieving multi-class freshness detection across 6 fruit types (13 classes, incl. Other/Unknown), with 95% test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2167128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8424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real-world dataset challenges: missing images solved via augmentation, color/size inconsistencies corrected in preprocessing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916936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3405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evaluated rigorously using confusion matrix, classification report, and train/validation accuracy &amp; loss curves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3666744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8386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the open-set problem: added an Other/Unknown negative class (0.97 precision, 0.95 recall) plus an 85% confidence threshold, so out-of-distribution images are rejected instead of confidently misclassified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4416552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3367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live Flask web application on AWS EC2 at $0/month — model compressed 295MB → 98.5MB for free-tier hosting, with per-fruit storage tips shown alongside each prediction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Fruit Freshness Detection using CNN  ·  Deep Learning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1215</Words>
  <Application>Microsoft Office PowerPoint</Application>
  <PresentationFormat>On-screen Show (16:9)</PresentationFormat>
  <Paragraphs>243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 Freshness Detection using CNN</dc:title>
  <dc:subject>PptxGenJS Presentation</dc:subject>
  <dc:creator>PptxGenJS</dc:creator>
  <cp:lastModifiedBy>Udit Gupta</cp:lastModifiedBy>
  <cp:revision>4</cp:revision>
  <dcterms:created xsi:type="dcterms:W3CDTF">2026-04-20T12:57:31Z</dcterms:created>
  <dcterms:modified xsi:type="dcterms:W3CDTF">2026-04-21T05:19:02Z</dcterms:modified>
</cp:coreProperties>
</file>